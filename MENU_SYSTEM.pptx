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5" autoAdjust="0"/>
    <p:restoredTop sz="94610"/>
  </p:normalViewPr>
  <p:slideViewPr>
    <p:cSldViewPr snapToGrid="0" snapToObjects="1">
      <p:cViewPr>
        <p:scale>
          <a:sx n="67" d="100"/>
          <a:sy n="67" d="100"/>
        </p:scale>
        <p:origin x="4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65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48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UNIVERSITY OF DODOMA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Informatics and Virtual Education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225171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7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15  ·  ATmega32 EMBEDDED SYSTEMS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8264" y="2286000"/>
            <a:ext cx="10781756" cy="1476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1B3A6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LCD-Based</a:t>
            </a: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Menu Navigation &amp;</a:t>
            </a:r>
            <a:endParaRPr lang="en-US" sz="2800" dirty="0"/>
          </a:p>
          <a:p>
            <a:pPr marL="0" indent="0" algn="ctr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Setting System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536246" y="3355521"/>
            <a:ext cx="9119507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microcontroller-based embedded user interface for displaying information and configuring system parameters using a 16×2 LCD, push-button menu control, LEDs, and a buzzer.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37560" y="5577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endParaRPr lang="en-US" sz="13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B90C17-7A61-70C1-EA31-4ED7996B4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588121"/>
              </p:ext>
            </p:extLst>
          </p:nvPr>
        </p:nvGraphicFramePr>
        <p:xfrm>
          <a:off x="2268765" y="4458062"/>
          <a:ext cx="8386988" cy="18542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818105">
                  <a:extLst>
                    <a:ext uri="{9D8B030D-6E8A-4147-A177-3AD203B41FA5}">
                      <a16:colId xmlns:a16="http://schemas.microsoft.com/office/drawing/2014/main" val="3019544325"/>
                    </a:ext>
                  </a:extLst>
                </a:gridCol>
                <a:gridCol w="3958909">
                  <a:extLst>
                    <a:ext uri="{9D8B030D-6E8A-4147-A177-3AD203B41FA5}">
                      <a16:colId xmlns:a16="http://schemas.microsoft.com/office/drawing/2014/main" val="4128811092"/>
                    </a:ext>
                  </a:extLst>
                </a:gridCol>
                <a:gridCol w="3609974">
                  <a:extLst>
                    <a:ext uri="{9D8B030D-6E8A-4147-A177-3AD203B41FA5}">
                      <a16:colId xmlns:a16="http://schemas.microsoft.com/office/drawing/2014/main" val="3755520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REG_NO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53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KHADIJA    FADHILI   ZAHARANI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T23-03-10509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01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TUMAINI    JONAS     MABAMBA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T23-03-12131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49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JUNIOR   AMOS     RWEZAURA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T23-03-20552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739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    CHRISTOPHER    BINAMUNGU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T23-03-15902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3901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30428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286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271576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2697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312724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1089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22960" y="353872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35204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22960" y="395020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80160" y="39319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System Operation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22960" y="436168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80160" y="43434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22960" y="477316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280160" y="47548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Pin Mapping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822960" y="518464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33" name="Text 30"/>
          <p:cNvSpPr/>
          <p:nvPr/>
        </p:nvSpPr>
        <p:spPr>
          <a:xfrm>
            <a:off x="822960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280160" y="51663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(KiCad)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822960" y="559612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6" name="Text 33"/>
          <p:cNvSpPr/>
          <p:nvPr/>
        </p:nvSpPr>
        <p:spPr>
          <a:xfrm>
            <a:off x="822960" y="5596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280160" y="5577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&amp; Gerbers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822960" y="600760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280160" y="59893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6720840" y="230428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2" name="Text 39"/>
          <p:cNvSpPr/>
          <p:nvPr/>
        </p:nvSpPr>
        <p:spPr>
          <a:xfrm>
            <a:off x="672084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178040" y="2286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Interfacing (4-bit)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6720840" y="271576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178040" y="2697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State Machine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720840" y="312724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8" name="Text 45"/>
          <p:cNvSpPr/>
          <p:nvPr/>
        </p:nvSpPr>
        <p:spPr>
          <a:xfrm>
            <a:off x="672084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178040" y="31089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Handling &amp; Debounce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6720840" y="353872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51" name="Text 48"/>
          <p:cNvSpPr/>
          <p:nvPr/>
        </p:nvSpPr>
        <p:spPr>
          <a:xfrm>
            <a:off x="672084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178040" y="35204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6720840" y="395020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4" name="Text 51"/>
          <p:cNvSpPr/>
          <p:nvPr/>
        </p:nvSpPr>
        <p:spPr>
          <a:xfrm>
            <a:off x="672084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7178040" y="39319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Notes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6720840" y="436168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57" name="Text 54"/>
          <p:cNvSpPr/>
          <p:nvPr/>
        </p:nvSpPr>
        <p:spPr>
          <a:xfrm>
            <a:off x="672084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7178040" y="43434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6720840" y="477316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0" name="Text 57"/>
          <p:cNvSpPr/>
          <p:nvPr/>
        </p:nvSpPr>
        <p:spPr>
          <a:xfrm>
            <a:off x="672084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7178040" y="47548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Submission</a:t>
            </a:r>
            <a:endParaRPr lang="en-US" sz="1350" dirty="0"/>
          </a:p>
        </p:txBody>
      </p:sp>
      <p:sp>
        <p:nvSpPr>
          <p:cNvPr id="62" name="Shape 59"/>
          <p:cNvSpPr/>
          <p:nvPr/>
        </p:nvSpPr>
        <p:spPr>
          <a:xfrm>
            <a:off x="6720840" y="518464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3" name="Text 60"/>
          <p:cNvSpPr/>
          <p:nvPr/>
        </p:nvSpPr>
        <p:spPr>
          <a:xfrm>
            <a:off x="6720840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7178040" y="51663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EEPROM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6720840" y="5596128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6" name="Text 63"/>
          <p:cNvSpPr/>
          <p:nvPr/>
        </p:nvSpPr>
        <p:spPr>
          <a:xfrm>
            <a:off x="6720840" y="5596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7178040" y="5577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6720840" y="6007608"/>
            <a:ext cx="310896" cy="31089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9" name="Text 66"/>
          <p:cNvSpPr/>
          <p:nvPr/>
        </p:nvSpPr>
        <p:spPr>
          <a:xfrm>
            <a:off x="6720840" y="6007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7178040" y="59893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/ References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Background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2860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dirty="0">
                <a:solidFill>
                  <a:srgbClr val="1E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Embedded systems are everywhere — in appliances, instruments, and industrial controllers. Most of them need a simple way for a user to see information and change settings.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dirty="0">
                <a:solidFill>
                  <a:srgbClr val="1E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display shows the system status, while push buttons let the user move through menus and adjust parameter values. This human-machine interface (HMI) is a core building block of embedded design.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applies these ideas on the ATmega32 microcontroller, following the University of Dodoma problem-based learning (PBL) flow: from system operation to hardware, design, firmware, simulation, and demonstration.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223760" y="228600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9808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examples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80960" y="3063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controllers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Motor-speed controllers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&amp; alarm systems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devices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86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9F0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4231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embedded systems require a simple, reliable user interface for displaying information and changing system settings — but building one demands correct LCD control, dependable button reading, and clear menu logic.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35021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525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Control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8114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16×2 LCD correctly in 4-bit mode and show menus and values without garbage characters.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343400" y="3977640"/>
            <a:ext cx="35021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3525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Reading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03520" y="458114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five push buttons reliably, with debouncing to avoid false or repeated presses.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046720" y="3977640"/>
            <a:ext cx="350215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7532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35254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0684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Logic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006840" y="458114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states — welcome, menu, edit, save, error — and update the display on every change.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64592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27249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LCD-based menu navigation and parameter setting system using ATmega32 GPIO pins, a 16×2 LCD, push buttons, LEDs, and a buzzer.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Objectives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965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40690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 16×2 LCD in 4-bit mode with the ATmega32.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0965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40690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debounce five push-button inputs.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5488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47274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navigable menu with at least one adjustable parameter.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75488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83680" y="47274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LED and buzzer feedback for confirmation and errors.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13248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51560" y="53858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schematic and PCB in KiCad and verify in SimulIDE.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413248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583680" y="53858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submit the project on GitHub.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ATmega32 sits at the centre, reading buttons and driving the LCD, LEDs, and buzzer.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338328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566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40416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ATmega32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14400" y="3017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9F0F9"/>
          </a:solidFill>
          <a:ln w="12700">
            <a:solidFill>
              <a:srgbClr val="5B8FD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91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017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Push Buttons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291840" y="3474720"/>
            <a:ext cx="1737360" cy="502920"/>
          </a:xfrm>
          <a:prstGeom prst="line">
            <a:avLst/>
          </a:prstGeom>
          <a:noFill/>
          <a:ln w="19050">
            <a:solidFill>
              <a:srgbClr val="5B8FD6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14400" y="4389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9F0F9"/>
          </a:solidFill>
          <a:ln w="12700">
            <a:solidFill>
              <a:srgbClr val="5B8FD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6634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389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Supply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291840" y="4846320"/>
            <a:ext cx="1737360" cy="0"/>
          </a:xfrm>
          <a:prstGeom prst="line">
            <a:avLst/>
          </a:prstGeom>
          <a:noFill/>
          <a:ln w="19050">
            <a:solidFill>
              <a:srgbClr val="5B8FD6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869680" y="2606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C79A3A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28803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132320" y="3977640"/>
            <a:ext cx="1737360" cy="0"/>
          </a:xfrm>
          <a:prstGeom prst="line">
            <a:avLst/>
          </a:prstGeom>
          <a:noFill/>
          <a:ln w="19050">
            <a:solidFill>
              <a:srgbClr val="C79A3A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8869680" y="3840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C79A3A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114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01200" y="3840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Status LEDs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7132320" y="3977640"/>
            <a:ext cx="1737360" cy="320040"/>
          </a:xfrm>
          <a:prstGeom prst="line">
            <a:avLst/>
          </a:prstGeom>
          <a:noFill/>
          <a:ln w="19050">
            <a:solidFill>
              <a:srgbClr val="C79A3A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8869680" y="5074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C79A3A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534924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01200" y="5074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7132320" y="3977640"/>
            <a:ext cx="1737360" cy="1554480"/>
          </a:xfrm>
          <a:prstGeom prst="line">
            <a:avLst/>
          </a:prstGeom>
          <a:noFill/>
          <a:ln w="19050">
            <a:solidFill>
              <a:srgbClr val="C79A3A"/>
            </a:solidFill>
            <a:prstDash val="solid"/>
            <a:tailEnd type="triangle"/>
          </a:ln>
        </p:spPr>
      </p:sp>
      <p:sp>
        <p:nvSpPr>
          <p:cNvPr id="35" name="Text 26"/>
          <p:cNvSpPr/>
          <p:nvPr/>
        </p:nvSpPr>
        <p:spPr>
          <a:xfrm>
            <a:off x="914400" y="5669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029200" y="5669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8869680" y="5669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SPECIFICATION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System Operation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9456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4231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5694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395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279806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welcome message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43400" y="219456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4231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5694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2395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pressed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03520" y="279806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is displayed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46720" y="219456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75320" y="24231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56946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6840" y="23957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pressed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006840" y="279806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moves upward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342900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3657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80390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3630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pressed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600200" y="403250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moves downward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343400" y="342900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72000" y="3657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380390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3630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pressed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303520" y="403250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menu item opens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046720" y="342900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75320" y="3657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380390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006840" y="3630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pressed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9006840" y="403250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value increases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640080" y="466344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68680" y="4892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84" y="5038344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600200" y="4864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pressed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1600200" y="526694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shows “VALUE SAVED”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4343400" y="466344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572000" y="4892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8304" y="5038344"/>
            <a:ext cx="274320" cy="2743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303520" y="4864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action</a:t>
            </a:r>
            <a:endParaRPr lang="en-US" sz="1400" dirty="0"/>
          </a:p>
        </p:txBody>
      </p:sp>
      <p:sp>
        <p:nvSpPr>
          <p:cNvPr id="50" name="Text 39"/>
          <p:cNvSpPr/>
          <p:nvPr/>
        </p:nvSpPr>
        <p:spPr>
          <a:xfrm>
            <a:off x="5303520" y="526694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gives error beep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8046720" y="4663440"/>
            <a:ext cx="350215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8275320" y="4892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1624" y="5038344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006840" y="4864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pressed</a:t>
            </a:r>
            <a:endParaRPr lang="en-US" sz="1400" dirty="0"/>
          </a:p>
        </p:txBody>
      </p:sp>
      <p:sp>
        <p:nvSpPr>
          <p:cNvPr id="55" name="Text 43"/>
          <p:cNvSpPr/>
          <p:nvPr/>
        </p:nvSpPr>
        <p:spPr>
          <a:xfrm>
            <a:off x="9006840" y="526694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welcome screen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945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5008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MCU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08760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running firmware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257800" y="21945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72200" y="21945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237744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5008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Module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40880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menu &amp; parameter values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0789920" y="21945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40080" y="31546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4610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508760" y="3593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Up, Down, Select, Save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257800" y="31546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×5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6172200" y="31546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355080" y="333756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346100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4088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040880" y="3593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mode indication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0789920" y="31546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40080" y="41148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442112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508760" y="4224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1508760" y="4553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feedback (confirm / error)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5257800" y="4114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6172200" y="41148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8524" y="4421124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040880" y="4224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7040880" y="4553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contrast adjustment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10789920" y="4114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  <p:sp>
        <p:nvSpPr>
          <p:cNvPr id="47" name="Shape 38"/>
          <p:cNvSpPr/>
          <p:nvPr/>
        </p:nvSpPr>
        <p:spPr>
          <a:xfrm>
            <a:off x="640080" y="5074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" y="5381244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508760" y="5184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Button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1508760" y="5513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microcontroller reset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5257800" y="5074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  <p:sp>
        <p:nvSpPr>
          <p:cNvPr id="53" name="Shape 43"/>
          <p:cNvSpPr/>
          <p:nvPr/>
        </p:nvSpPr>
        <p:spPr>
          <a:xfrm>
            <a:off x="6172200" y="5074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355080" y="5257800"/>
            <a:ext cx="502920" cy="502920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8524" y="5381244"/>
            <a:ext cx="256032" cy="256032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7040880" y="5184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Power Supply</a:t>
            </a:r>
            <a:endParaRPr lang="en-US" sz="1400" dirty="0"/>
          </a:p>
        </p:txBody>
      </p:sp>
      <p:sp>
        <p:nvSpPr>
          <p:cNvPr id="57" name="Text 46"/>
          <p:cNvSpPr/>
          <p:nvPr/>
        </p:nvSpPr>
        <p:spPr>
          <a:xfrm>
            <a:off x="7040880" y="5513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whole circuit</a:t>
            </a:r>
            <a:endParaRPr lang="en-US" sz="1150" dirty="0"/>
          </a:p>
        </p:txBody>
      </p:sp>
      <p:sp>
        <p:nvSpPr>
          <p:cNvPr id="58" name="Text 47"/>
          <p:cNvSpPr/>
          <p:nvPr/>
        </p:nvSpPr>
        <p:spPr>
          <a:xfrm>
            <a:off x="10789920" y="5074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GPIO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Mapping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667512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PC0 – PC1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RS, LCD 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PC2 – PC5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D4, D5, D6, D7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PA0 – PA2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Menu, Up, Down buttons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PA3 – PA4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Save/Increase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PB0 – PB1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LED, Mode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PB2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589520" y="2194560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423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Setup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863840" y="29718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DDRC = 0x3F;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LCD outputs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DDRA = 0x00;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button inputs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DDRB = 0x07;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LED + buzzer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86384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LCD mode keeps the pin count 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· SCHEMATIC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Design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schematic connects the ATmega32 to all peripherals with clear net labels.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6060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28346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9809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807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32095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LCD, button, LED &amp; buzzer pins shown clearly.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26060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0" y="28346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9809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2807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Module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303520" y="32095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RS, EN, D4–D7, VCC, GND and contrast pin.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46720" y="26060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75320" y="28346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980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807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Circuit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006840" y="32095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wired to set LCD contrast (V0).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42062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" y="44348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58114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4074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600200" y="48097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Up, Down, Select, Save/Increase.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4343400" y="42062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0" y="44348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4581144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0" y="44074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Circuit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5303520" y="48097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push button with pull-up resistor.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8046720" y="42062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275320" y="44348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4581144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006840" y="44074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Labels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9006840" y="48097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LCD_RS, LCD_EN, BTN_MENU, STATUS_LED, BUZZER.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· PCB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Layout &amp; Gerbers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3774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606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75234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578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Outline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00200" y="29809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rectangular PCB outline defined.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43400" y="23774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606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7523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2578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Placement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03520" y="29809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connector &amp; buttons placed for easy access.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046720" y="23774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75320" y="26060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75234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6840" y="25786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006840" y="29809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LCD, GPIO, power and ground traces routed.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39776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35254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Silkscreen Labels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600200" y="45811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for LCD pins, buttons, LEDs &amp; buzzer.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343400" y="39776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7200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435254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Access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303520" y="45811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placed where it is easy to adjust.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046720" y="3977640"/>
            <a:ext cx="350215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7532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4352544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006840" y="41788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Checks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9006840" y="458114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&amp; DRC passed; Gerber files generated.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MPLAB · FIRMWARE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Development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written in C configures the hardware and runs the menu logic.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GPIO: LCD outputs, button inputs, LED/buzzer outputs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the LCD in 4-bit mode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welcome screen at startup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read the five control buttons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inputs to reject false readings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menu states and adjust parameters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LEDs and buzzer for feedback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2514600"/>
            <a:ext cx="4572000" cy="3200400"/>
          </a:xfrm>
          <a:prstGeom prst="roundRect">
            <a:avLst>
              <a:gd name="adj" fmla="val 2571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2376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structure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3200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System_Init();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Show_Welcome();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while(1){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read_buttons();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update_state();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F0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refresh_lcd();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DRIVER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LCD Interfacing (4-bit Mode)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HD44780 LCD is driven over four data lines to save pins. Data transfers as two nibbles.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/ Data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27248" y="27432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502152" y="27432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02152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Data Pins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27432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64224" y="27432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64224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Pulse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51392" y="27432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9226296" y="27432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C79A3A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226296" y="2743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Updates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02336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398264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00200" y="42245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wake-up sequence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600200" y="4626864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0x03 nibbles then 0x02 switch the LCD into 4-bit mode reliably.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343400" y="402336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72000" y="42519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4398264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03520" y="42245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command handling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303520" y="4626864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set, display on/off, entry mode, clear and cursor positioning.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046720" y="402336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275320" y="425196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4398264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006840" y="422452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printing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9006840" y="4626864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printing clears leftover characters from previous screens.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State Machine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3317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2331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97680" y="2331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081528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22960" y="3355848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097280" y="33558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MENU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297680" y="33558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05656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2960" y="4379976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097280" y="437997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EDIT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297680" y="43799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129784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22960" y="5404104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C79A3A"/>
          </a:solidFill>
          <a:ln/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97280" y="54041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SAVED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297680" y="54041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5577840" y="2331720"/>
            <a:ext cx="5943600" cy="329184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85216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transitions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5943600" y="301752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button moves from Welcome to Main Menu.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scroll through parameters in the menu.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opens the parameter edit screen.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SAVE increase the value; DOWN decreases it.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(in edit) saves and shows VALUE SAVED.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returns the system to the welcome screen.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INPUT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 Handling &amp; Debounce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8600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6609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4871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Wiring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2889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connect the pin to GND; internal pull-ups hold it HIGH when idle.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28600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2514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6609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871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132320" y="2889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press is confirmed over several samples to reject switch bounce and noise.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397764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35254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178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00200" y="45811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flags ensure one action per press — no repeated triggering.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172200" y="397764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0" y="42062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35254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32320" y="4178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State-Aware Actions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132320" y="45811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button behaves differently in menu vs. edit mode.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TESTING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SimulIDE Simulation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circuit is built and tested in SimulIDE before hardware, with each case screenshotted.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6060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6060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Welcome message appears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72200" y="26060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889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6060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pressed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 menu appears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335584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9F0F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3872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3558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Selection moves up/down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72200" y="335584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5387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33558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Parameter screen opens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410565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9F0F9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8853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41056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Increase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Value changes or saves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172200" y="410565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288536"/>
            <a:ext cx="292608" cy="29260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66560" y="41056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action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Buzzer error indication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40080" y="485546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9F0F9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38344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34440" y="4855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 to welcome screen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6172200" y="485546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038344"/>
            <a:ext cx="292608" cy="29260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766560" y="48554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 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Captured for the repository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JOURNEY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Notes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48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 found and fixed while getting the buttons and display to work.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6060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28346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9809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8072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logic polarity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00200" y="32095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code to wiring: active-LOW (to GND) with pull-ups, or active-HIGH with pull-downs — never mix them.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26060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28346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98094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32320" y="28072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resistor error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132320" y="32095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10k resistor in series with the button forms a divider with the pull-up, so the pin never reads a valid LOW. Connect buttons directly to GND.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2062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44348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5811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407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(F_CPU) mismatch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00200" y="48097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RC defaults to 1 MHz. If F_CPU says 8 MHz, every delay is 8× off. Match F_CPU to the real clock.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172200" y="42062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0" y="443484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58114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32320" y="4407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contrast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7132320" y="48097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screen usually means the contrast pot or RW-to-GND connection is missing, not a code fault.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DELIVERY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GitHub Submission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86000"/>
            <a:ext cx="35021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6609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487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&amp; Menu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00200" y="2889504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pin use; clear navigation logic.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43400" y="2286000"/>
            <a:ext cx="35021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514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609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2487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03520" y="2889504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DDR/PORT/PIN and LCD handling.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046720" y="2286000"/>
            <a:ext cx="35021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63500" dist="25400" dir="5400000" algn="bl" rotWithShape="0">
              <a:srgbClr val="1B3A6B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75320" y="2514600"/>
            <a:ext cx="566928" cy="566928"/>
          </a:xfrm>
          <a:prstGeom prst="ellipse">
            <a:avLst/>
          </a:prstGeom>
          <a:solidFill>
            <a:srgbClr val="E9F0F9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66090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6840" y="248716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&amp; PCB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006840" y="2889504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wiring, routing, labels &amp; DRC.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388620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1148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Repository:  ATmega32_LCD_Menu_System</a:t>
            </a:r>
            <a:endParaRPr lang="en-US" sz="17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3659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2588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 (src, include, hex)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7365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9204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kicad/ (schematic, pcb, gerber)</a:t>
            </a:r>
            <a:endParaRPr lang="en-US" sz="12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736592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45820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simulide/ (circuit, screenshots)</a:t>
            </a:r>
            <a:endParaRPr lang="en-US" sz="12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193792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3258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documentation/ (diagrams, tests)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5193792"/>
            <a:ext cx="219456" cy="2194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89204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 (demo video link)</a:t>
            </a:r>
            <a:endParaRPr lang="en-US" sz="12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5193792"/>
            <a:ext cx="219456" cy="21945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45820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+ meaningful commits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61520" cy="54864"/>
          </a:xfrm>
          <a:prstGeom prst="rect">
            <a:avLst/>
          </a:prstGeom>
          <a:solidFill>
            <a:srgbClr val="C79A3A"/>
          </a:solidFill>
          <a:ln/>
        </p:spPr>
      </p:sp>
      <p:sp>
        <p:nvSpPr>
          <p:cNvPr id="5" name="Text 2"/>
          <p:cNvSpPr/>
          <p:nvPr/>
        </p:nvSpPr>
        <p:spPr>
          <a:xfrm>
            <a:off x="9189720" y="457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3035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Extension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LCD-Based Menu Navigation &amp; Parameter Setting System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2860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complete embedded user interface on the ATmega32 — from schematic and PCB in KiCad, through firmware in MPLAB, to verification in SimulIDE.</a:t>
            </a:r>
            <a:endParaRPr lang="en-US" sz="15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LCD interfacing in 4-bit mode, reliable debounced button reading, a clear menu state machine, and user feedback through LEDs and a buzzer.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debugging process reinforced a key lesson: hardware wiring and firmware assumptions must always agree.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28600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1B3A6B"/>
          </a:solidFill>
          <a:ln/>
          <a:effectLst>
            <a:outerShdw blurRad="88900" dist="25400" dir="5400000" algn="bl" rotWithShape="0">
              <a:srgbClr val="1B3A6B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5603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2578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Extension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9808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Parameter Storage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98080" y="36576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selected parameter to the internal EEPROM so it remains available after reset or power cycling — combining menu navigation with EEPROM read/write operations for persistent settings.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1945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0" y="31089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983480" y="3794760"/>
            <a:ext cx="2194560" cy="0"/>
          </a:xfrm>
          <a:prstGeom prst="line">
            <a:avLst/>
          </a:prstGeom>
          <a:noFill/>
          <a:ln w="19050">
            <a:solidFill>
              <a:srgbClr val="C79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11480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6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321 Project 15 Brief — University of Dodoma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Datasheet — Microchip Technology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HD44780 LCD Controller Datasheet — Hitachi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 err="1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</a:t>
            </a:r>
            <a:r>
              <a:rPr lang="en-US" sz="130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300" dirty="0" err="1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</a:t>
            </a:r>
            <a:r>
              <a:rPr lang="en-US" sz="1300" dirty="0">
                <a:solidFill>
                  <a:srgbClr val="E9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Official Documentation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Dodoma  ·  College of Informatics and Virtual Education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1962</Words>
  <Application>Microsoft Office PowerPoint</Application>
  <PresentationFormat>Widescreen</PresentationFormat>
  <Paragraphs>400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LCD-Based Menu Navigation &amp; Parameter Setting System</dc:title>
  <dc:subject>PptxGenJS Presentation</dc:subject>
  <dc:creator>University of Dodoma</dc:creator>
  <cp:lastModifiedBy>Junior Rwezaura</cp:lastModifiedBy>
  <cp:revision>3</cp:revision>
  <dcterms:created xsi:type="dcterms:W3CDTF">2026-07-02T06:11:00Z</dcterms:created>
  <dcterms:modified xsi:type="dcterms:W3CDTF">2026-07-03T14:23:18Z</dcterms:modified>
</cp:coreProperties>
</file>